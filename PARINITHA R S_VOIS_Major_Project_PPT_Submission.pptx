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47" r:id="rId7"/>
    <p:sldId id="329" r:id="rId8"/>
    <p:sldId id="302" r:id="rId9"/>
    <p:sldId id="339" r:id="rId10"/>
    <p:sldId id="344" r:id="rId11"/>
    <p:sldId id="345" r:id="rId12"/>
    <p:sldId id="340"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4" d="100"/>
          <a:sy n="84" d="100"/>
        </p:scale>
        <p:origin x="132" y="8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68445" y="4103720"/>
            <a:ext cx="3646169" cy="861497"/>
          </a:xfrm>
        </p:spPr>
        <p:txBody>
          <a:bodyPr vert="horz" lIns="91440" tIns="45720" rIns="91440" bIns="45720" rtlCol="0" anchor="t">
            <a:normAutofit fontScale="25000" lnSpcReduction="20000"/>
          </a:bodyPr>
          <a:lstStyle/>
          <a:p>
            <a:pPr algn="r"/>
            <a:r>
              <a:rPr lang="en-US" sz="12800" dirty="0">
                <a:solidFill>
                  <a:schemeClr val="tx1"/>
                </a:solidFill>
              </a:rPr>
              <a:t>Student Name:</a:t>
            </a:r>
            <a:endParaRPr lang="en-IN" sz="12800" dirty="0">
              <a:solidFill>
                <a:schemeClr val="tx1"/>
              </a:solidFill>
            </a:endParaRPr>
          </a:p>
          <a:p>
            <a:pPr algn="r"/>
            <a:r>
              <a:rPr lang="en-US" sz="12800" dirty="0">
                <a:solidFill>
                  <a:schemeClr val="tx1"/>
                </a:solidFill>
              </a:rPr>
              <a:t>College Name:</a:t>
            </a:r>
            <a:endParaRPr lang="en-IN" sz="1280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b="1" dirty="0"/>
              <a:t>Project Title -</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17884" y="5867584"/>
            <a:ext cx="3176362" cy="584775"/>
          </a:xfrm>
          <a:prstGeom prst="rect">
            <a:avLst/>
          </a:prstGeom>
          <a:noFill/>
        </p:spPr>
        <p:txBody>
          <a:bodyPr wrap="square" rtlCol="0">
            <a:spAutoFit/>
          </a:bodyPr>
          <a:lstStyle/>
          <a:p>
            <a:r>
              <a:rPr lang="en-US" sz="3200" b="1" dirty="0"/>
              <a:t>AICTE STU ID :</a:t>
            </a:r>
          </a:p>
        </p:txBody>
      </p:sp>
      <p:sp>
        <p:nvSpPr>
          <p:cNvPr id="5" name="Rectangle 4">
            <a:extLst>
              <a:ext uri="{FF2B5EF4-FFF2-40B4-BE49-F238E27FC236}">
                <a16:creationId xmlns:a16="http://schemas.microsoft.com/office/drawing/2014/main" id="{86D19A00-744D-483C-9560-C64AB86B853A}"/>
              </a:ext>
            </a:extLst>
          </p:cNvPr>
          <p:cNvSpPr/>
          <p:nvPr/>
        </p:nvSpPr>
        <p:spPr>
          <a:xfrm>
            <a:off x="3494246" y="2749059"/>
            <a:ext cx="5418430" cy="1077218"/>
          </a:xfrm>
          <a:prstGeom prst="rect">
            <a:avLst/>
          </a:prstGeom>
        </p:spPr>
        <p:txBody>
          <a:bodyPr wrap="square">
            <a:spAutoFit/>
          </a:bodyPr>
          <a:lstStyle/>
          <a:p>
            <a:r>
              <a:rPr lang="en-IN" sz="3200" dirty="0"/>
              <a:t>Seasonal Agriculture Performance Analysis </a:t>
            </a:r>
          </a:p>
        </p:txBody>
      </p:sp>
      <p:sp>
        <p:nvSpPr>
          <p:cNvPr id="9" name="Rectangle 8">
            <a:extLst>
              <a:ext uri="{FF2B5EF4-FFF2-40B4-BE49-F238E27FC236}">
                <a16:creationId xmlns:a16="http://schemas.microsoft.com/office/drawing/2014/main" id="{40C098D5-54E5-4B1D-B445-DB5FD44DD663}"/>
              </a:ext>
            </a:extLst>
          </p:cNvPr>
          <p:cNvSpPr/>
          <p:nvPr/>
        </p:nvSpPr>
        <p:spPr>
          <a:xfrm>
            <a:off x="3177724" y="4030132"/>
            <a:ext cx="2871876" cy="584775"/>
          </a:xfrm>
          <a:prstGeom prst="rect">
            <a:avLst/>
          </a:prstGeom>
        </p:spPr>
        <p:txBody>
          <a:bodyPr wrap="none">
            <a:spAutoFit/>
          </a:bodyPr>
          <a:lstStyle/>
          <a:p>
            <a:r>
              <a:rPr lang="en-US" sz="3200" dirty="0"/>
              <a:t>PARINITHA R S </a:t>
            </a:r>
            <a:endParaRPr lang="en-IN" sz="3200" dirty="0"/>
          </a:p>
        </p:txBody>
      </p:sp>
      <p:sp>
        <p:nvSpPr>
          <p:cNvPr id="10" name="Rectangle 9">
            <a:extLst>
              <a:ext uri="{FF2B5EF4-FFF2-40B4-BE49-F238E27FC236}">
                <a16:creationId xmlns:a16="http://schemas.microsoft.com/office/drawing/2014/main" id="{FBEE3AC7-816C-4861-8AA6-1C567A04A2CB}"/>
              </a:ext>
            </a:extLst>
          </p:cNvPr>
          <p:cNvSpPr/>
          <p:nvPr/>
        </p:nvSpPr>
        <p:spPr>
          <a:xfrm>
            <a:off x="3177724" y="4607209"/>
            <a:ext cx="7197740" cy="523220"/>
          </a:xfrm>
          <a:prstGeom prst="rect">
            <a:avLst/>
          </a:prstGeom>
        </p:spPr>
        <p:txBody>
          <a:bodyPr wrap="none">
            <a:spAutoFit/>
          </a:bodyPr>
          <a:lstStyle/>
          <a:p>
            <a:r>
              <a:rPr lang="en-US" sz="2800" dirty="0"/>
              <a:t>ANAND INSTITUTE OF HIGHER TECHNOLOGY</a:t>
            </a:r>
            <a:endParaRPr lang="en-IN" sz="2800" dirty="0"/>
          </a:p>
        </p:txBody>
      </p:sp>
      <p:sp>
        <p:nvSpPr>
          <p:cNvPr id="11" name="Rectangle 10">
            <a:extLst>
              <a:ext uri="{FF2B5EF4-FFF2-40B4-BE49-F238E27FC236}">
                <a16:creationId xmlns:a16="http://schemas.microsoft.com/office/drawing/2014/main" id="{8678B8CE-37FB-4F94-9BDC-EEEA40B63FD6}"/>
              </a:ext>
            </a:extLst>
          </p:cNvPr>
          <p:cNvSpPr/>
          <p:nvPr/>
        </p:nvSpPr>
        <p:spPr>
          <a:xfrm>
            <a:off x="3177724" y="5887145"/>
            <a:ext cx="5690982" cy="584775"/>
          </a:xfrm>
          <a:prstGeom prst="rect">
            <a:avLst/>
          </a:prstGeom>
        </p:spPr>
        <p:txBody>
          <a:bodyPr wrap="none">
            <a:spAutoFit/>
          </a:bodyPr>
          <a:lstStyle/>
          <a:p>
            <a:r>
              <a:rPr lang="en-IN" sz="3200" dirty="0"/>
              <a:t>STU6842c22f6f0561749205551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625006"/>
            <a:ext cx="6431280" cy="3607987"/>
          </a:xfrm>
        </p:spPr>
        <p:txBody>
          <a:bodyPr vert="horz" lIns="91440" tIns="45720" rIns="91440" bIns="45720" rtlCol="0" anchor="t">
            <a:noAutofit/>
          </a:bodyPr>
          <a:lstStyle/>
          <a:p>
            <a:pPr marL="0" indent="0">
              <a:lnSpc>
                <a:spcPct val="100000"/>
              </a:lnSpc>
              <a:buNone/>
            </a:pPr>
            <a:r>
              <a:rPr lang="en-US" dirty="0"/>
              <a:t>Agricultural activities are influenced by seasonal variations in environmental conditions, farming practices, resource availability and market conditions. As a result, agricultural performance may differ from one season to another.</a:t>
            </a:r>
          </a:p>
          <a:p>
            <a:pPr marL="0" indent="0">
              <a:lnSpc>
                <a:spcPct val="100000"/>
              </a:lnSpc>
              <a:buNone/>
            </a:pPr>
            <a:r>
              <a:rPr lang="en-US" dirty="0"/>
              <a:t> However, raw agricultural data does not clearly explain how agricultural performance changes across seasons or what patterns can be observed in different seasonal conditions. </a:t>
            </a:r>
          </a:p>
          <a:p>
            <a:pPr marL="0" indent="0">
              <a:lnSpc>
                <a:spcPct val="100000"/>
              </a:lnSpc>
              <a:buNone/>
            </a:pPr>
            <a:r>
              <a:rPr lang="en-US" dirty="0"/>
              <a:t>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86225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Rectangle 9">
            <a:extLst>
              <a:ext uri="{FF2B5EF4-FFF2-40B4-BE49-F238E27FC236}">
                <a16:creationId xmlns:a16="http://schemas.microsoft.com/office/drawing/2014/main" id="{75FF3418-09A7-44A0-ACE7-66BD7F0272AF}"/>
              </a:ext>
            </a:extLst>
          </p:cNvPr>
          <p:cNvSpPr/>
          <p:nvPr/>
        </p:nvSpPr>
        <p:spPr>
          <a:xfrm>
            <a:off x="3139122" y="542914"/>
            <a:ext cx="6096000" cy="1138773"/>
          </a:xfrm>
          <a:prstGeom prst="rect">
            <a:avLst/>
          </a:prstGeom>
        </p:spPr>
        <p:txBody>
          <a:bodyPr>
            <a:spAutoFit/>
          </a:bodyPr>
          <a:lstStyle/>
          <a:p>
            <a:r>
              <a:rPr lang="en-GB" sz="3200" b="1" dirty="0"/>
              <a:t>Project Description</a:t>
            </a:r>
            <a:br>
              <a:rPr lang="en-GB" dirty="0"/>
            </a:br>
            <a:br>
              <a:rPr lang="en-GB" dirty="0"/>
            </a:br>
            <a:endParaRPr lang="en-IN" dirty="0"/>
          </a:p>
        </p:txBody>
      </p:sp>
      <p:sp>
        <p:nvSpPr>
          <p:cNvPr id="11" name="Rectangle 10">
            <a:extLst>
              <a:ext uri="{FF2B5EF4-FFF2-40B4-BE49-F238E27FC236}">
                <a16:creationId xmlns:a16="http://schemas.microsoft.com/office/drawing/2014/main" id="{566B009F-AD60-493D-905E-52416A4FFBD9}"/>
              </a:ext>
            </a:extLst>
          </p:cNvPr>
          <p:cNvSpPr/>
          <p:nvPr/>
        </p:nvSpPr>
        <p:spPr>
          <a:xfrm>
            <a:off x="525780" y="1511498"/>
            <a:ext cx="8618220" cy="4401205"/>
          </a:xfrm>
          <a:prstGeom prst="rect">
            <a:avLst/>
          </a:prstGeom>
        </p:spPr>
        <p:txBody>
          <a:bodyPr wrap="square">
            <a:spAutoFit/>
          </a:bodyPr>
          <a:lstStyle/>
          <a:p>
            <a:r>
              <a:rPr lang="en-US" sz="1400" dirty="0"/>
              <a:t>Seasonal Agriculture Performance Analysis is a data analytics project that analyzes agricultural performance across different seasons, geographical regions, crops, environmental conditions, resource usage, and economic factors. The project aims to transform raw agricultural data into meaningful insights by identifying seasonal patterns, variations, relationships, and unusual observations.</a:t>
            </a:r>
          </a:p>
          <a:p>
            <a:endParaRPr lang="en-US" sz="1400" dirty="0"/>
          </a:p>
          <a:p>
            <a:r>
              <a:rPr lang="en-US" sz="1400" dirty="0"/>
              <a:t>The project involves data exploration, cleaning, preprocessing, statistical analysis, and visualization to understand how agricultural production changes across seasons. It examines crop and regional performance, environmental factors such as rainfall, temperature, and humidity, and resource requirements such as water, fertilizer, and labor. Economic factors such as revenue, cost, and profit are also analyzed to understand seasonal economic performance.</a:t>
            </a:r>
          </a:p>
          <a:p>
            <a:endParaRPr lang="en-US" sz="1400" dirty="0"/>
          </a:p>
          <a:p>
            <a:r>
              <a:rPr lang="en-US" sz="1400" dirty="0"/>
              <a:t>Statistical techniques such as correlation analysis and ANOVA are used to investigate relationships between variables and determine whether differences in agricultural performance across seasons are statistically significant. Outlier and anomaly analysis is performed to identify unusual agricultural observations that may require further investigation. A machine learning-based feature importance analysis is also used to identify important numerical factors associated with agricultural production.</a:t>
            </a:r>
          </a:p>
          <a:p>
            <a:endParaRPr lang="en-US" sz="1400" dirty="0"/>
          </a:p>
          <a:p>
            <a:r>
              <a:rPr lang="en-US" sz="1400" dirty="0"/>
              <a:t>The final outcome of the project is to provide evidence-based insights and data-driven recommendations that can support better understanding of seasonal agricultural performance and contribute to improved seasonal agricultural planning.</a:t>
            </a:r>
          </a:p>
        </p:txBody>
      </p:sp>
    </p:spTree>
    <p:extLst>
      <p:ext uri="{BB962C8B-B14F-4D97-AF65-F5344CB8AC3E}">
        <p14:creationId xmlns:p14="http://schemas.microsoft.com/office/powerpoint/2010/main" val="1352018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851660"/>
            <a:ext cx="8171181" cy="4446270"/>
          </a:xfrm>
        </p:spPr>
        <p:txBody>
          <a:bodyPr>
            <a:normAutofit fontScale="62500" lnSpcReduction="20000"/>
          </a:bodyPr>
          <a:lstStyle/>
          <a:p>
            <a:pPr marL="0" indent="0">
              <a:buNone/>
            </a:pPr>
            <a:r>
              <a:rPr lang="en-US" sz="3600" dirty="0"/>
              <a:t>The main end users of this project are:</a:t>
            </a:r>
          </a:p>
          <a:p>
            <a:r>
              <a:rPr lang="en-US" sz="3600" b="1" dirty="0"/>
              <a:t>Farmers</a:t>
            </a:r>
            <a:r>
              <a:rPr lang="en-US" sz="3600" dirty="0"/>
              <a:t> – to understand seasonal crop performance and make better farming decisions.</a:t>
            </a:r>
          </a:p>
          <a:p>
            <a:r>
              <a:rPr lang="en-US" sz="3600" b="1" dirty="0"/>
              <a:t>Agricultural planners</a:t>
            </a:r>
            <a:r>
              <a:rPr lang="en-US" sz="3600" dirty="0"/>
              <a:t> – to support evidence-based seasonal agricultural planning.</a:t>
            </a:r>
          </a:p>
          <a:p>
            <a:r>
              <a:rPr lang="en-US" sz="3600" b="1" dirty="0"/>
              <a:t>Agricultural researchers</a:t>
            </a:r>
            <a:r>
              <a:rPr lang="en-US" sz="3600" dirty="0"/>
              <a:t> – to study seasonal patterns, environmental conditions, and crop performance.</a:t>
            </a:r>
          </a:p>
          <a:p>
            <a:r>
              <a:rPr lang="en-US" sz="3600" b="1" dirty="0"/>
              <a:t>Government and agricultural organizations</a:t>
            </a:r>
            <a:r>
              <a:rPr lang="en-US" sz="3600" dirty="0"/>
              <a:t> – to understand regional and seasonal agricultural trends for planning and resource allocation.</a:t>
            </a:r>
          </a:p>
          <a:p>
            <a:r>
              <a:rPr lang="en-US" sz="3600" b="1" dirty="0"/>
              <a:t>Agricultural analysts and students</a:t>
            </a:r>
            <a:r>
              <a:rPr lang="en-US" sz="3600" dirty="0"/>
              <a:t> – to explore agricultural data and identify meaningful trends, relationships, and variations.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57529" y="682027"/>
            <a:ext cx="5306291" cy="847817"/>
          </a:xfrm>
        </p:spPr>
        <p:txBody>
          <a:bodyPr>
            <a:normAutofit/>
          </a:bodyPr>
          <a:lstStyle/>
          <a:p>
            <a:r>
              <a:rPr lang="en-US" dirty="0"/>
              <a:t>Technology Used</a:t>
            </a:r>
          </a:p>
        </p:txBody>
      </p:sp>
      <p:sp>
        <p:nvSpPr>
          <p:cNvPr id="8" name="Rectangle 2">
            <a:extLst>
              <a:ext uri="{FF2B5EF4-FFF2-40B4-BE49-F238E27FC236}">
                <a16:creationId xmlns:a16="http://schemas.microsoft.com/office/drawing/2014/main" id="{8EB5875A-6971-4685-8438-981F331F472B}"/>
              </a:ext>
            </a:extLst>
          </p:cNvPr>
          <p:cNvSpPr>
            <a:spLocks noChangeArrowheads="1"/>
          </p:cNvSpPr>
          <p:nvPr/>
        </p:nvSpPr>
        <p:spPr bwMode="auto">
          <a:xfrm>
            <a:off x="1951829" y="2175914"/>
            <a:ext cx="7823982"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Programming Language:</a:t>
            </a:r>
            <a:r>
              <a:rPr kumimoji="0" lang="en-US" altLang="en-US" sz="2800" b="0" i="0" u="none" strike="noStrike" cap="none" normalizeH="0" baseline="0" dirty="0">
                <a:ln>
                  <a:noFill/>
                </a:ln>
                <a:solidFill>
                  <a:schemeClr val="tx1"/>
                </a:solidFill>
                <a:effectLst/>
                <a:latin typeface="Arial" panose="020B0604020202020204" pitchFamily="34"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Data Analysis:</a:t>
            </a:r>
            <a:r>
              <a:rPr kumimoji="0" lang="en-US" altLang="en-US" sz="2800" b="0" i="0" u="none" strike="noStrike" cap="none" normalizeH="0" baseline="0" dirty="0">
                <a:ln>
                  <a:noFill/>
                </a:ln>
                <a:solidFill>
                  <a:schemeClr val="tx1"/>
                </a:solidFill>
                <a:effectLst/>
                <a:latin typeface="Arial" panose="020B0604020202020204" pitchFamily="34" charset="0"/>
              </a:rPr>
              <a:t> Pandas, NumPy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Data Visualization:</a:t>
            </a:r>
            <a:r>
              <a:rPr kumimoji="0" lang="en-US" altLang="en-US" sz="2800" b="0" i="0" u="none" strike="noStrike" cap="none" normalizeH="0" baseline="0" dirty="0">
                <a:ln>
                  <a:noFill/>
                </a:ln>
                <a:solidFill>
                  <a:schemeClr val="tx1"/>
                </a:solidFill>
                <a:effectLst/>
                <a:latin typeface="Arial" panose="020B0604020202020204" pitchFamily="34" charset="0"/>
              </a:rPr>
              <a:t> Matplotlib, Seaborn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Statistical Analysis:</a:t>
            </a:r>
            <a:r>
              <a:rPr kumimoji="0" lang="en-US" altLang="en-US" sz="2800" b="0" i="0" u="none" strike="noStrike" cap="none" normalizeH="0" baseline="0" dirty="0">
                <a:ln>
                  <a:noFill/>
                </a:ln>
                <a:solidFill>
                  <a:schemeClr val="tx1"/>
                </a:solidFill>
                <a:effectLst/>
                <a:latin typeface="Arial" panose="020B0604020202020204" pitchFamily="34" charset="0"/>
              </a:rPr>
              <a:t> SciPy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Machine Learning: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Scikit</a:t>
            </a:r>
            <a:r>
              <a:rPr kumimoji="0" lang="en-US" altLang="en-US" sz="2800" b="0" i="0" u="none" strike="noStrike" cap="none" normalizeH="0" baseline="0" dirty="0">
                <a:ln>
                  <a:noFill/>
                </a:ln>
                <a:solidFill>
                  <a:schemeClr val="tx1"/>
                </a:solidFill>
                <a:effectLst/>
                <a:latin typeface="Arial" panose="020B0604020202020204" pitchFamily="34" charset="0"/>
              </a:rPr>
              <a:t>-learn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Development Environment:</a:t>
            </a:r>
            <a:r>
              <a:rPr kumimoji="0" lang="en-US" altLang="en-US" sz="2800" b="0" i="0" u="none" strike="noStrike" cap="none" normalizeH="0" baseline="0" dirty="0">
                <a:ln>
                  <a:noFill/>
                </a:ln>
                <a:solidFill>
                  <a:schemeClr val="tx1"/>
                </a:solidFill>
                <a:effectLst/>
                <a:latin typeface="Arial" panose="020B0604020202020204" pitchFamily="34" charset="0"/>
              </a:rPr>
              <a:t> Google </a:t>
            </a:r>
            <a:r>
              <a:rPr kumimoji="0" lang="en-US" altLang="en-US" sz="2800" b="0" i="0" u="none" strike="noStrike" cap="none" normalizeH="0" baseline="0" dirty="0" err="1">
                <a:ln>
                  <a:noFill/>
                </a:ln>
                <a:solidFill>
                  <a:schemeClr val="tx1"/>
                </a:solidFill>
                <a:effectLst/>
                <a:latin typeface="Arial" panose="020B0604020202020204" pitchFamily="34" charset="0"/>
              </a:rPr>
              <a:t>Colab</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Data Storage &amp; Input:</a:t>
            </a:r>
            <a:r>
              <a:rPr kumimoji="0" lang="en-US" altLang="en-US" sz="2800" b="0" i="0" u="none" strike="noStrike" cap="none" normalizeH="0" baseline="0" dirty="0">
                <a:ln>
                  <a:noFill/>
                </a:ln>
                <a:solidFill>
                  <a:schemeClr val="tx1"/>
                </a:solidFill>
                <a:effectLst/>
                <a:latin typeface="Arial" panose="020B0604020202020204" pitchFamily="34" charset="0"/>
              </a:rPr>
              <a:t> CSV / Excel datasets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24E2114-BE10-432D-A5DD-8758CBB95B25}"/>
              </a:ext>
            </a:extLst>
          </p:cNvPr>
          <p:cNvPicPr>
            <a:picLocks noChangeAspect="1"/>
          </p:cNvPicPr>
          <p:nvPr/>
        </p:nvPicPr>
        <p:blipFill>
          <a:blip r:embed="rId3"/>
          <a:stretch>
            <a:fillRect/>
          </a:stretch>
        </p:blipFill>
        <p:spPr>
          <a:xfrm>
            <a:off x="320982" y="1482257"/>
            <a:ext cx="8823018" cy="489932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C68E839-7530-4495-B340-17FB965EDE51}"/>
              </a:ext>
            </a:extLst>
          </p:cNvPr>
          <p:cNvPicPr>
            <a:picLocks noChangeAspect="1"/>
          </p:cNvPicPr>
          <p:nvPr/>
        </p:nvPicPr>
        <p:blipFill>
          <a:blip r:embed="rId3"/>
          <a:stretch>
            <a:fillRect/>
          </a:stretch>
        </p:blipFill>
        <p:spPr>
          <a:xfrm>
            <a:off x="820740" y="1497330"/>
            <a:ext cx="8083230" cy="516763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2673F85A-814F-4CBB-B909-77A19472E676}"/>
              </a:ext>
            </a:extLst>
          </p:cNvPr>
          <p:cNvPicPr>
            <a:picLocks noChangeAspect="1"/>
          </p:cNvPicPr>
          <p:nvPr/>
        </p:nvPicPr>
        <p:blipFill>
          <a:blip r:embed="rId3"/>
          <a:stretch>
            <a:fillRect/>
          </a:stretch>
        </p:blipFill>
        <p:spPr>
          <a:xfrm>
            <a:off x="320983" y="1608410"/>
            <a:ext cx="4708508" cy="4506640"/>
          </a:xfrm>
          <a:prstGeom prst="rect">
            <a:avLst/>
          </a:prstGeom>
        </p:spPr>
      </p:pic>
      <p:sp>
        <p:nvSpPr>
          <p:cNvPr id="12" name="Rectangle 11">
            <a:extLst>
              <a:ext uri="{FF2B5EF4-FFF2-40B4-BE49-F238E27FC236}">
                <a16:creationId xmlns:a16="http://schemas.microsoft.com/office/drawing/2014/main" id="{5C011514-09EA-414F-BF4B-4B9B67B3B735}"/>
              </a:ext>
            </a:extLst>
          </p:cNvPr>
          <p:cNvSpPr/>
          <p:nvPr/>
        </p:nvSpPr>
        <p:spPr>
          <a:xfrm>
            <a:off x="5144175" y="1201586"/>
            <a:ext cx="5090160" cy="5078313"/>
          </a:xfrm>
          <a:prstGeom prst="rect">
            <a:avLst/>
          </a:prstGeom>
        </p:spPr>
        <p:txBody>
          <a:bodyPr wrap="square">
            <a:spAutoFit/>
          </a:bodyPr>
          <a:lstStyle/>
          <a:p>
            <a:endParaRPr lang="en-US" dirty="0"/>
          </a:p>
          <a:p>
            <a:r>
              <a:rPr lang="en-US" b="1" dirty="0"/>
              <a:t>📊 Short Explanation</a:t>
            </a:r>
          </a:p>
          <a:p>
            <a:endParaRPr lang="en-US" b="1" dirty="0"/>
          </a:p>
          <a:p>
            <a:pPr>
              <a:buFont typeface="Arial" panose="020B0604020202020204" pitchFamily="34" charset="0"/>
              <a:buChar char="•"/>
            </a:pPr>
            <a:r>
              <a:rPr lang="en-US" b="1" dirty="0"/>
              <a:t>Kharif:</a:t>
            </a:r>
            <a:r>
              <a:rPr lang="en-US" dirty="0"/>
              <a:t> Highest variability and highest profit outliers (&gt;4 million).</a:t>
            </a:r>
          </a:p>
          <a:p>
            <a:pPr>
              <a:buFont typeface="Arial" panose="020B0604020202020204" pitchFamily="34" charset="0"/>
              <a:buChar char="•"/>
            </a:pPr>
            <a:r>
              <a:rPr lang="en-US" dirty="0"/>
              <a:t> </a:t>
            </a:r>
          </a:p>
          <a:p>
            <a:pPr>
              <a:buFont typeface="Arial" panose="020B0604020202020204" pitchFamily="34" charset="0"/>
              <a:buChar char="•"/>
            </a:pPr>
            <a:r>
              <a:rPr lang="en-US" b="1" dirty="0"/>
              <a:t>Rabi:</a:t>
            </a:r>
            <a:r>
              <a:rPr lang="en-US" dirty="0"/>
              <a:t> Moderate variability with high-profit outliers (~3.3 million). </a:t>
            </a:r>
          </a:p>
          <a:p>
            <a:pPr>
              <a:buFont typeface="Arial" panose="020B0604020202020204" pitchFamily="34" charset="0"/>
              <a:buChar char="•"/>
            </a:pPr>
            <a:endParaRPr lang="en-US" dirty="0"/>
          </a:p>
          <a:p>
            <a:pPr>
              <a:buFont typeface="Arial" panose="020B0604020202020204" pitchFamily="34" charset="0"/>
              <a:buChar char="•"/>
            </a:pPr>
            <a:r>
              <a:rPr lang="en-US" b="1" dirty="0"/>
              <a:t>Zaid:</a:t>
            </a:r>
            <a:r>
              <a:rPr lang="en-US" dirty="0"/>
              <a:t> Lower typical profit with fewer extreme values. </a:t>
            </a:r>
          </a:p>
          <a:p>
            <a:pPr>
              <a:buFont typeface="Arial" panose="020B0604020202020204" pitchFamily="34" charset="0"/>
              <a:buChar char="•"/>
            </a:pPr>
            <a:endParaRPr lang="en-US" dirty="0"/>
          </a:p>
          <a:p>
            <a:pPr>
              <a:buFont typeface="Arial" panose="020B0604020202020204" pitchFamily="34" charset="0"/>
              <a:buChar char="•"/>
            </a:pPr>
            <a:r>
              <a:rPr lang="en-US" b="1" dirty="0"/>
              <a:t>Outliers:</a:t>
            </a:r>
            <a:r>
              <a:rPr lang="en-US" dirty="0"/>
              <a:t> Show unusually high profits and some losses. </a:t>
            </a:r>
          </a:p>
          <a:p>
            <a:pPr>
              <a:buFont typeface="Arial" panose="020B0604020202020204" pitchFamily="34" charset="0"/>
              <a:buChar char="•"/>
            </a:pPr>
            <a:endParaRPr lang="en-US" dirty="0"/>
          </a:p>
          <a:p>
            <a:pPr>
              <a:buFont typeface="Arial" panose="020B0604020202020204" pitchFamily="34" charset="0"/>
              <a:buChar char="•"/>
            </a:pPr>
            <a:r>
              <a:rPr lang="en-US" b="1" dirty="0"/>
              <a:t>Overall:</a:t>
            </a:r>
            <a:r>
              <a:rPr lang="en-US" dirty="0"/>
              <a:t> Kharif has the strongest and most variable profit performance, while Zaid is comparatively lower</a:t>
            </a:r>
            <a:r>
              <a:rPr lang="en-US" b="1" dirty="0"/>
              <a:t>.</a:t>
            </a:r>
            <a:endParaRPr lang="en-US"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F6CD4545-D986-4086-A39B-603EA7A7A05D}"/>
              </a:ext>
            </a:extLst>
          </p:cNvPr>
          <p:cNvPicPr>
            <a:picLocks noChangeAspect="1"/>
          </p:cNvPicPr>
          <p:nvPr/>
        </p:nvPicPr>
        <p:blipFill>
          <a:blip r:embed="rId3"/>
          <a:stretch>
            <a:fillRect/>
          </a:stretch>
        </p:blipFill>
        <p:spPr>
          <a:xfrm>
            <a:off x="493077" y="1322884"/>
            <a:ext cx="8446769" cy="524555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832EF1C-1D02-4AAD-AE48-4C08F9E856BE}"/>
              </a:ext>
            </a:extLst>
          </p:cNvPr>
          <p:cNvPicPr>
            <a:picLocks noChangeAspect="1"/>
          </p:cNvPicPr>
          <p:nvPr/>
        </p:nvPicPr>
        <p:blipFill>
          <a:blip r:embed="rId3"/>
          <a:stretch>
            <a:fillRect/>
          </a:stretch>
        </p:blipFill>
        <p:spPr>
          <a:xfrm>
            <a:off x="320983" y="1357669"/>
            <a:ext cx="4262448" cy="5086602"/>
          </a:xfrm>
          <a:prstGeom prst="rect">
            <a:avLst/>
          </a:prstGeom>
        </p:spPr>
      </p:pic>
      <p:pic>
        <p:nvPicPr>
          <p:cNvPr id="11" name="Picture 10">
            <a:extLst>
              <a:ext uri="{FF2B5EF4-FFF2-40B4-BE49-F238E27FC236}">
                <a16:creationId xmlns:a16="http://schemas.microsoft.com/office/drawing/2014/main" id="{CC2F2D2C-82BA-4E90-BE93-53F694C2FFD5}"/>
              </a:ext>
            </a:extLst>
          </p:cNvPr>
          <p:cNvPicPr>
            <a:picLocks noChangeAspect="1"/>
          </p:cNvPicPr>
          <p:nvPr/>
        </p:nvPicPr>
        <p:blipFill>
          <a:blip r:embed="rId4"/>
          <a:stretch>
            <a:fillRect/>
          </a:stretch>
        </p:blipFill>
        <p:spPr>
          <a:xfrm>
            <a:off x="4990317" y="1629995"/>
            <a:ext cx="4262448" cy="493641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461118"/>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B096B5F6-6925-419F-8DEE-C0238F69803B}"/>
              </a:ext>
            </a:extLst>
          </p:cNvPr>
          <p:cNvSpPr/>
          <p:nvPr/>
        </p:nvSpPr>
        <p:spPr>
          <a:xfrm>
            <a:off x="712541" y="1510612"/>
            <a:ext cx="7524750" cy="4524315"/>
          </a:xfrm>
          <a:prstGeom prst="rect">
            <a:avLst/>
          </a:prstGeom>
        </p:spPr>
        <p:txBody>
          <a:bodyPr wrap="square">
            <a:spAutoFit/>
          </a:bodyPr>
          <a:lstStyle/>
          <a:p>
            <a:pPr marL="285750" indent="-285750">
              <a:buFont typeface="Wingdings" panose="05000000000000000000" pitchFamily="2" charset="2"/>
              <a:buChar char="q"/>
            </a:pPr>
            <a:r>
              <a:rPr lang="en-US" dirty="0"/>
              <a:t>The project can be further enhanced by integrating real-time agricultural and weather data to improve seasonal analysis and prediction.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Machine learning models can be developed to predict crop production and identify the factors that most influence agricultural performance.</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 The system can also be extended with interactive dashboards for farmers, agricultural researchers, and planners to monitor seasonal trends and regional performance.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Future work may include crop recommendation, yield forecasting, resource optimization, and early identification of unfavorable agricultural conditions. These improvements can support more effective, data-driven seasonal agricultural planning.</a:t>
            </a: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374613" cy="646331"/>
          </a:xfrm>
          <a:prstGeom prst="rect">
            <a:avLst/>
          </a:prstGeom>
          <a:noFill/>
        </p:spPr>
        <p:txBody>
          <a:bodyPr wrap="square">
            <a:spAutoFit/>
          </a:bodyPr>
          <a:lstStyle/>
          <a:p>
            <a:r>
              <a:rPr lang="en-US" dirty="0">
                <a:solidFill>
                  <a:schemeClr val="accent2">
                    <a:lumMod val="75000"/>
                  </a:schemeClr>
                </a:solidFill>
              </a:rPr>
              <a:t>https://github.com/Parinitha1506/Seasonal-Agriculture-Performance-Analysis.git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F3FC2CD-7328-493A-8A5C-651CB748391A}"/>
              </a:ext>
            </a:extLst>
          </p:cNvPr>
          <p:cNvPicPr>
            <a:picLocks noChangeAspect="1"/>
          </p:cNvPicPr>
          <p:nvPr/>
        </p:nvPicPr>
        <p:blipFill>
          <a:blip r:embed="rId3"/>
          <a:stretch>
            <a:fillRect/>
          </a:stretch>
        </p:blipFill>
        <p:spPr>
          <a:xfrm>
            <a:off x="996488" y="1608410"/>
            <a:ext cx="7530971" cy="513469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279968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purl.org/dc/elements/1.1/"/>
    <ds:schemaRef ds:uri="http://schemas.microsoft.com/office/2006/documentManagement/types"/>
    <ds:schemaRef ds:uri="71af3243-3dd4-4a8d-8c0d-dd76da1f02a5"/>
    <ds:schemaRef ds:uri="http://purl.org/dc/terms/"/>
    <ds:schemaRef ds:uri="http://schemas.microsoft.com/office/infopath/2007/PartnerControls"/>
    <ds:schemaRef ds:uri="http://schemas.openxmlformats.org/package/2006/metadata/core-properties"/>
    <ds:schemaRef ds:uri="16c05727-aa75-4e4a-9b5f-8a80a116589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1400</TotalTime>
  <Words>677</Words>
  <Application>Microsoft Office PowerPoint</Application>
  <PresentationFormat>Widescreen</PresentationFormat>
  <Paragraphs>67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PowerPoint Presentation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lenovo</cp:lastModifiedBy>
  <cp:revision>103</cp:revision>
  <dcterms:created xsi:type="dcterms:W3CDTF">2021-07-11T13:13:15Z</dcterms:created>
  <dcterms:modified xsi:type="dcterms:W3CDTF">2026-09-05T09:14:17Z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